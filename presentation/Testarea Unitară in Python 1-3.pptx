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Yeseva One" charset="1" panose="00000500000000000000"/>
      <p:regular r:id="rId15"/>
    </p:embeddedFont>
    <p:embeddedFont>
      <p:font typeface="Libre Baskerville" charset="1" panose="02000000000000000000"/>
      <p:regular r:id="rId16"/>
    </p:embeddedFont>
    <p:embeddedFont>
      <p:font typeface="Libre Baskerville Bold" charset="1" panose="02000000000000000000"/>
      <p:regular r:id="rId17"/>
    </p:embeddedFont>
    <p:embeddedFont>
      <p:font typeface="Libre Baskerville Italics" charset="1" panose="02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embeddings/oleObject3.bin" Type="http://schemas.openxmlformats.org/officeDocument/2006/relationships/oleObjec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embeddings/oleObject1.bin" Type="http://schemas.openxmlformats.org/officeDocument/2006/relationships/oleObject"/><Relationship Id="rId8" Target="../media/image8.png" Type="http://schemas.openxmlformats.org/officeDocument/2006/relationships/image"/><Relationship Id="rId9" Target="../embeddings/oleObject2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Relationship Id="rId9" Target="../embeddings/oleObject4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embeddings/oleObject6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Relationship Id="rId9" Target="../embeddings/oleObject5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60904" y="3670628"/>
            <a:ext cx="12404292" cy="291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00"/>
              </a:lnSpc>
            </a:pPr>
            <a:r>
              <a:rPr lang="en-US" sz="111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Testarea unitară în Python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8822354">
            <a:off x="12771885" y="-1597025"/>
            <a:ext cx="6626483" cy="5715000"/>
          </a:xfrm>
          <a:custGeom>
            <a:avLst/>
            <a:gdLst/>
            <a:ahLst/>
            <a:cxnLst/>
            <a:rect r="r" b="b" t="t" l="l"/>
            <a:pathLst>
              <a:path h="5715000" w="6626483">
                <a:moveTo>
                  <a:pt x="0" y="0"/>
                </a:moveTo>
                <a:lnTo>
                  <a:pt x="6626484" y="0"/>
                </a:lnTo>
                <a:lnTo>
                  <a:pt x="6626484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266137">
            <a:off x="-1277219" y="5897732"/>
            <a:ext cx="5210769" cy="6721137"/>
          </a:xfrm>
          <a:custGeom>
            <a:avLst/>
            <a:gdLst/>
            <a:ahLst/>
            <a:cxnLst/>
            <a:rect r="r" b="b" t="t" l="l"/>
            <a:pathLst>
              <a:path h="6721137" w="5210769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569636">
            <a:off x="779619" y="-2269556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83182" y="8207780"/>
            <a:ext cx="11721636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Radu Daniel</a:t>
            </a: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Roman Bianca</a:t>
            </a: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Costache Carolina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3755510">
            <a:off x="14637629" y="5499669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992615" y="6792892"/>
            <a:ext cx="430277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Audio Track Renamer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06351" y="1190625"/>
            <a:ext cx="13275298" cy="1214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0"/>
              </a:lnSpc>
            </a:pPr>
            <a:r>
              <a:rPr lang="en-US" sz="906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Introducere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508982" y="-2342660"/>
            <a:ext cx="6626483" cy="5715000"/>
          </a:xfrm>
          <a:custGeom>
            <a:avLst/>
            <a:gdLst/>
            <a:ahLst/>
            <a:cxnLst/>
            <a:rect r="r" b="b" t="t" l="l"/>
            <a:pathLst>
              <a:path h="5715000" w="6626483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266137">
            <a:off x="-1277219" y="5897732"/>
            <a:ext cx="5210769" cy="6721137"/>
          </a:xfrm>
          <a:custGeom>
            <a:avLst/>
            <a:gdLst/>
            <a:ahLst/>
            <a:cxnLst/>
            <a:rect r="r" b="b" t="t" l="l"/>
            <a:pathLst>
              <a:path h="6721137" w="5210769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569636">
            <a:off x="779619" y="-2269556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755510">
            <a:off x="14637629" y="5499669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83182" y="2940317"/>
            <a:ext cx="11721636" cy="649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Aplicația este un utilitar Python care redenumește automat fișiere audio, după formatul `NN - Titlu.ext`. </a:t>
            </a:r>
          </a:p>
          <a:p>
            <a:pPr algn="ctr">
              <a:lnSpc>
                <a:spcPts val="3000"/>
              </a:lnSpc>
            </a:pP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Testele au fost realizate pe clasa TrackNumberParser. Aceasta conține 3 metode: parse(), format_track(), pad_track().</a:t>
            </a:r>
          </a:p>
          <a:p>
            <a:pPr algn="ctr">
              <a:lnSpc>
                <a:spcPts val="3000"/>
              </a:lnSpc>
            </a:pP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Configurație software: </a:t>
            </a: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 Python 3.12.3</a:t>
            </a: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 pytest 9.0.3</a:t>
            </a: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 pytest-cov 7.1.0</a:t>
            </a: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 pytest-mock 3.15.1</a:t>
            </a: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 mutagen 1.47.0</a:t>
            </a:r>
          </a:p>
          <a:p>
            <a:pPr algn="ctr">
              <a:lnSpc>
                <a:spcPts val="3000"/>
              </a:lnSpc>
            </a:pP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Configuratie hardware:</a:t>
            </a: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-proiectul a rulat nativ pe 3 sisteme diferite</a:t>
            </a:r>
          </a:p>
          <a:p>
            <a:pPr algn="ctr">
              <a:lnSpc>
                <a:spcPts val="30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46058" y="-1357144"/>
            <a:ext cx="6626483" cy="5715000"/>
          </a:xfrm>
          <a:custGeom>
            <a:avLst/>
            <a:gdLst/>
            <a:ahLst/>
            <a:cxnLst/>
            <a:rect r="r" b="b" t="t" l="l"/>
            <a:pathLst>
              <a:path h="5715000" w="6626483">
                <a:moveTo>
                  <a:pt x="0" y="0"/>
                </a:moveTo>
                <a:lnTo>
                  <a:pt x="6626484" y="0"/>
                </a:lnTo>
                <a:lnTo>
                  <a:pt x="6626484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66137">
            <a:off x="-1277219" y="5897732"/>
            <a:ext cx="5210769" cy="6721137"/>
          </a:xfrm>
          <a:custGeom>
            <a:avLst/>
            <a:gdLst/>
            <a:ahLst/>
            <a:cxnLst/>
            <a:rect r="r" b="b" t="t" l="l"/>
            <a:pathLst>
              <a:path h="6721137" w="5210769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569636">
            <a:off x="779619" y="-2269556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755510">
            <a:off x="14637629" y="5499669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35814" y="1422400"/>
            <a:ext cx="12016371" cy="1214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0"/>
              </a:lnSpc>
            </a:pPr>
            <a:r>
              <a:rPr lang="en-US" sz="906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Strategii de testare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75846" y="4601046"/>
            <a:ext cx="8185806" cy="3340893"/>
            <a:chOff x="0" y="0"/>
            <a:chExt cx="10914408" cy="4454524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013849"/>
              <a:ext cx="10914408" cy="24406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35"/>
                </a:lnSpc>
              </a:pPr>
              <a:r>
                <a:rPr lang="en-US" sz="3535">
                  <a:solidFill>
                    <a:srgbClr val="00000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Am împărțit datele de intrare în clase valide și invalide pentru a reduce redundanța testelor (ex: număr simplu vs. string invalid).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6268" y="57150"/>
              <a:ext cx="10878140" cy="14795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25"/>
                </a:lnSpc>
              </a:pPr>
              <a:r>
                <a:rPr lang="en-US" sz="4125">
                  <a:solidFill>
                    <a:srgbClr val="000000"/>
                  </a:solidFill>
                  <a:latin typeface="Yeseva One"/>
                  <a:ea typeface="Yeseva One"/>
                  <a:cs typeface="Yeseva One"/>
                  <a:sym typeface="Yeseva One"/>
                </a:rPr>
                <a:t>01 Partiționarea în clase de echivalență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0" y="4559762"/>
            <a:ext cx="8923294" cy="3449069"/>
            <a:chOff x="0" y="0"/>
            <a:chExt cx="11897725" cy="4598759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500612" y="2010570"/>
              <a:ext cx="10896501" cy="25881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6"/>
                </a:lnSpc>
              </a:pPr>
              <a:r>
                <a:rPr lang="en-US" sz="3746">
                  <a:solidFill>
                    <a:srgbClr val="00000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Am testat limitele exacte dintre aceste clase, deorece acolo apar majoritatea defectelor (ex: trecerea de la 9 la 10).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66675"/>
              <a:ext cx="11897725" cy="15404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70"/>
                </a:lnSpc>
              </a:pPr>
              <a:r>
                <a:rPr lang="en-US" sz="4370">
                  <a:solidFill>
                    <a:srgbClr val="000000"/>
                  </a:solidFill>
                  <a:latin typeface="Yeseva One"/>
                  <a:ea typeface="Yeseva One"/>
                  <a:cs typeface="Yeseva One"/>
                  <a:sym typeface="Yeseva One"/>
                </a:rPr>
                <a:t>02 Analiza valorilor de frontieră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926729" y="3108653"/>
            <a:ext cx="14434542" cy="3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În prima etapă, am aplicat Testarea bazată pe specificații (Black-Box Testing).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66137">
            <a:off x="-1277219" y="5897732"/>
            <a:ext cx="5210769" cy="6721137"/>
          </a:xfrm>
          <a:custGeom>
            <a:avLst/>
            <a:gdLst/>
            <a:ahLst/>
            <a:cxnLst/>
            <a:rect r="r" b="b" t="t" l="l"/>
            <a:pathLst>
              <a:path h="6721137" w="5210769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569636">
            <a:off x="779619" y="-2269556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755510">
            <a:off x="14637629" y="5499669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591054" y="2952312"/>
          <a:ext cx="7586157" cy="4274588"/>
        </p:xfrm>
        <a:graphic>
          <a:graphicData uri="http://schemas.openxmlformats.org/presentationml/2006/ole">
            <p:oleObj imgW="9105900" imgH="5791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6" id="6"/>
          <p:cNvGraphicFramePr/>
          <p:nvPr/>
        </p:nvGraphicFramePr>
        <p:xfrm>
          <a:off x="10542123" y="2841926"/>
          <a:ext cx="13896824" cy="3944138"/>
        </p:xfrm>
        <a:graphic>
          <a:graphicData uri="http://schemas.openxmlformats.org/presentationml/2006/ole">
            <p:oleObj imgW="16675100" imgH="67183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7" id="7"/>
          <p:cNvGraphicFramePr/>
          <p:nvPr/>
        </p:nvGraphicFramePr>
        <p:xfrm>
          <a:off x="10610059" y="6791303"/>
          <a:ext cx="9712671" cy="4299389"/>
        </p:xfrm>
        <a:graphic>
          <a:graphicData uri="http://schemas.openxmlformats.org/presentationml/2006/ole">
            <p:oleObj imgW="11658600" imgH="6235700" r:id="rId1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866406" y="812800"/>
            <a:ext cx="16555188" cy="917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1"/>
              </a:lnSpc>
            </a:pPr>
            <a:r>
              <a:rPr lang="en-US" sz="6861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Partiționarea în Clase de Echivalență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5085" y="9477601"/>
            <a:ext cx="15040570" cy="38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4"/>
              </a:lnSpc>
              <a:spcBef>
                <a:spcPct val="0"/>
              </a:spcBef>
            </a:pPr>
            <a:r>
              <a:rPr lang="en-US" sz="2914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Toate testele unitare scrise pentru aceste clase au rulat cu succes folosind pytest.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20393" y="2218915"/>
            <a:ext cx="1496713" cy="45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4"/>
              </a:lnSpc>
              <a:spcBef>
                <a:spcPct val="0"/>
              </a:spcBef>
            </a:pPr>
            <a:r>
              <a:rPr lang="en-US" sz="3314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parse()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92411" y="2218915"/>
            <a:ext cx="3071235" cy="45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4"/>
              </a:lnSpc>
              <a:spcBef>
                <a:spcPct val="0"/>
              </a:spcBef>
            </a:pPr>
            <a:r>
              <a:rPr lang="en-US" sz="3314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format_track()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10984" y="6110653"/>
            <a:ext cx="2366153" cy="45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4"/>
              </a:lnSpc>
              <a:spcBef>
                <a:spcPct val="0"/>
              </a:spcBef>
            </a:pPr>
            <a:r>
              <a:rPr lang="en-US" sz="3314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pad_track()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10204" y="-571500"/>
            <a:ext cx="6626483" cy="5715000"/>
          </a:xfrm>
          <a:custGeom>
            <a:avLst/>
            <a:gdLst/>
            <a:ahLst/>
            <a:cxnLst/>
            <a:rect r="r" b="b" t="t" l="l"/>
            <a:pathLst>
              <a:path h="5715000" w="6626483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66137">
            <a:off x="-1277219" y="5897732"/>
            <a:ext cx="5210769" cy="6721137"/>
          </a:xfrm>
          <a:custGeom>
            <a:avLst/>
            <a:gdLst/>
            <a:ahLst/>
            <a:cxnLst/>
            <a:rect r="r" b="b" t="t" l="l"/>
            <a:pathLst>
              <a:path h="6721137" w="5210769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569636">
            <a:off x="779619" y="-2269556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755510">
            <a:off x="14637629" y="5499669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1559629" y="3175324"/>
          <a:ext cx="13438726" cy="6573563"/>
        </p:xfrm>
        <a:graphic>
          <a:graphicData uri="http://schemas.openxmlformats.org/presentationml/2006/ole">
            <p:oleObj imgW="16116300" imgH="92583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028700" y="1152525"/>
            <a:ext cx="16230600" cy="997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0"/>
              </a:lnSpc>
            </a:pPr>
            <a:r>
              <a:rPr lang="en-US" sz="74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Analiza valorilor de frontieră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61992" y="2457774"/>
            <a:ext cx="3940619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parse()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10204" y="-571500"/>
            <a:ext cx="6626483" cy="5715000"/>
          </a:xfrm>
          <a:custGeom>
            <a:avLst/>
            <a:gdLst/>
            <a:ahLst/>
            <a:cxnLst/>
            <a:rect r="r" b="b" t="t" l="l"/>
            <a:pathLst>
              <a:path h="5715000" w="6626483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66137">
            <a:off x="-1277219" y="5897732"/>
            <a:ext cx="5210769" cy="6721137"/>
          </a:xfrm>
          <a:custGeom>
            <a:avLst/>
            <a:gdLst/>
            <a:ahLst/>
            <a:cxnLst/>
            <a:rect r="r" b="b" t="t" l="l"/>
            <a:pathLst>
              <a:path h="6721137" w="5210769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569636">
            <a:off x="779619" y="-2269556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755510">
            <a:off x="14637629" y="5499669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1616687" y="2286000"/>
          <a:ext cx="13438726" cy="6573563"/>
        </p:xfrm>
        <a:graphic>
          <a:graphicData uri="http://schemas.openxmlformats.org/presentationml/2006/ole">
            <p:oleObj imgW="16116300" imgH="92583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7" id="7"/>
          <p:cNvGraphicFramePr/>
          <p:nvPr/>
        </p:nvGraphicFramePr>
        <p:xfrm>
          <a:off x="1219757" y="6203948"/>
          <a:ext cx="16436473" cy="4001044"/>
        </p:xfrm>
        <a:graphic>
          <a:graphicData uri="http://schemas.openxmlformats.org/presentationml/2006/ole">
            <p:oleObj imgW="19723100" imgH="7277100" r:id="rId1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028700" y="654681"/>
            <a:ext cx="16230600" cy="84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0"/>
              </a:lnSpc>
            </a:pPr>
            <a:r>
              <a:rPr lang="en-US" sz="62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Analiza valorilor de frontieră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61992" y="1816100"/>
            <a:ext cx="3940619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format_track()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67684" y="5360090"/>
            <a:ext cx="3940619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pad_track()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66137">
            <a:off x="-1277219" y="5897732"/>
            <a:ext cx="5210769" cy="6721137"/>
          </a:xfrm>
          <a:custGeom>
            <a:avLst/>
            <a:gdLst/>
            <a:ahLst/>
            <a:cxnLst/>
            <a:rect r="r" b="b" t="t" l="l"/>
            <a:pathLst>
              <a:path h="6721137" w="5210769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569636">
            <a:off x="779619" y="-2269556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755510">
            <a:off x="14637629" y="5499669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47008" y="3780331"/>
            <a:ext cx="6232918" cy="5954248"/>
          </a:xfrm>
          <a:custGeom>
            <a:avLst/>
            <a:gdLst/>
            <a:ahLst/>
            <a:cxnLst/>
            <a:rect r="r" b="b" t="t" l="l"/>
            <a:pathLst>
              <a:path h="5954248" w="6232918">
                <a:moveTo>
                  <a:pt x="0" y="0"/>
                </a:moveTo>
                <a:lnTo>
                  <a:pt x="6232917" y="0"/>
                </a:lnTo>
                <a:lnTo>
                  <a:pt x="6232917" y="5954248"/>
                </a:lnTo>
                <a:lnTo>
                  <a:pt x="0" y="59542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92565" y="3994972"/>
            <a:ext cx="4901618" cy="5562214"/>
          </a:xfrm>
          <a:custGeom>
            <a:avLst/>
            <a:gdLst/>
            <a:ahLst/>
            <a:cxnLst/>
            <a:rect r="r" b="b" t="t" l="l"/>
            <a:pathLst>
              <a:path h="5562214" w="4901618">
                <a:moveTo>
                  <a:pt x="0" y="0"/>
                </a:moveTo>
                <a:lnTo>
                  <a:pt x="4901618" y="0"/>
                </a:lnTo>
                <a:lnTo>
                  <a:pt x="4901618" y="5562214"/>
                </a:lnTo>
                <a:lnTo>
                  <a:pt x="0" y="55622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906823" y="4138223"/>
            <a:ext cx="2561519" cy="5275711"/>
          </a:xfrm>
          <a:custGeom>
            <a:avLst/>
            <a:gdLst/>
            <a:ahLst/>
            <a:cxnLst/>
            <a:rect r="r" b="b" t="t" l="l"/>
            <a:pathLst>
              <a:path h="5275711" w="2561519">
                <a:moveTo>
                  <a:pt x="0" y="0"/>
                </a:moveTo>
                <a:lnTo>
                  <a:pt x="2561519" y="0"/>
                </a:lnTo>
                <a:lnTo>
                  <a:pt x="2561519" y="5275711"/>
                </a:lnTo>
                <a:lnTo>
                  <a:pt x="0" y="52757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858503"/>
            <a:ext cx="16230600" cy="95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1"/>
              </a:lnSpc>
            </a:pPr>
            <a:r>
              <a:rPr lang="en-US" sz="7061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Trecerea la White-Box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968728"/>
            <a:ext cx="16458815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Spre deosebire de Black-Box unde am testat funcționalitatea, aici am analizat structura internă a codului.</a:t>
            </a: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Am desenat diagramele CFG pentru a identifica nodurile de execuție și complexitatea codului.</a:t>
            </a:r>
          </a:p>
          <a:p>
            <a:pPr algn="l">
              <a:lnSpc>
                <a:spcPts val="30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10204" y="-571500"/>
            <a:ext cx="6626483" cy="5715000"/>
          </a:xfrm>
          <a:custGeom>
            <a:avLst/>
            <a:gdLst/>
            <a:ahLst/>
            <a:cxnLst/>
            <a:rect r="r" b="b" t="t" l="l"/>
            <a:pathLst>
              <a:path h="5715000" w="6626483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66137">
            <a:off x="-1277219" y="5897732"/>
            <a:ext cx="5210769" cy="6721137"/>
          </a:xfrm>
          <a:custGeom>
            <a:avLst/>
            <a:gdLst/>
            <a:ahLst/>
            <a:cxnLst/>
            <a:rect r="r" b="b" t="t" l="l"/>
            <a:pathLst>
              <a:path h="6721137" w="5210769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569636">
            <a:off x="779619" y="-2269556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755510">
            <a:off x="14637629" y="5499669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6324516"/>
            <a:ext cx="16474073" cy="2705184"/>
          </a:xfrm>
          <a:custGeom>
            <a:avLst/>
            <a:gdLst/>
            <a:ahLst/>
            <a:cxnLst/>
            <a:rect r="r" b="b" t="t" l="l"/>
            <a:pathLst>
              <a:path h="2705184" w="16474073">
                <a:moveTo>
                  <a:pt x="0" y="0"/>
                </a:moveTo>
                <a:lnTo>
                  <a:pt x="16474073" y="0"/>
                </a:lnTo>
                <a:lnTo>
                  <a:pt x="16474073" y="2705184"/>
                </a:lnTo>
                <a:lnTo>
                  <a:pt x="0" y="27051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27809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95825" y="1010486"/>
            <a:ext cx="11696350" cy="212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61"/>
              </a:lnSpc>
            </a:pPr>
            <a:r>
              <a:rPr lang="en-US" sz="8161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 Acoperire la nivel de instrucțiune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50444" y="3719714"/>
            <a:ext cx="14387112" cy="207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32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Acoperirea la nivel de instrucțiune verifică că fiecare instrucțiune este executată cel puțin o dată.  Aici am demonstrat că testele noastre trec prin absolut fiecare linie de cod. </a:t>
            </a:r>
          </a:p>
          <a:p>
            <a:pPr algn="ctr">
              <a:lnSpc>
                <a:spcPts val="3299"/>
              </a:lnSpc>
            </a:pPr>
          </a:p>
          <a:p>
            <a:pPr algn="ctr">
              <a:lnSpc>
                <a:spcPts val="3299"/>
              </a:lnSpc>
            </a:pPr>
            <a:r>
              <a:rPr lang="en-US" sz="3299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Clasa are 32 de instrucțiuni acoperite 100%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10204" y="-571500"/>
            <a:ext cx="6626483" cy="5715000"/>
          </a:xfrm>
          <a:custGeom>
            <a:avLst/>
            <a:gdLst/>
            <a:ahLst/>
            <a:cxnLst/>
            <a:rect r="r" b="b" t="t" l="l"/>
            <a:pathLst>
              <a:path h="5715000" w="6626483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66137">
            <a:off x="-1277219" y="5897732"/>
            <a:ext cx="5210769" cy="6721137"/>
          </a:xfrm>
          <a:custGeom>
            <a:avLst/>
            <a:gdLst/>
            <a:ahLst/>
            <a:cxnLst/>
            <a:rect r="r" b="b" t="t" l="l"/>
            <a:pathLst>
              <a:path h="6721137" w="5210769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569636">
            <a:off x="779619" y="-2269556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755510">
            <a:off x="14637629" y="5499669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37160" y="4618703"/>
            <a:ext cx="15813681" cy="2571003"/>
          </a:xfrm>
          <a:custGeom>
            <a:avLst/>
            <a:gdLst/>
            <a:ahLst/>
            <a:cxnLst/>
            <a:rect r="r" b="b" t="t" l="l"/>
            <a:pathLst>
              <a:path h="2571003" w="15813681">
                <a:moveTo>
                  <a:pt x="0" y="0"/>
                </a:moveTo>
                <a:lnTo>
                  <a:pt x="15813680" y="0"/>
                </a:lnTo>
                <a:lnTo>
                  <a:pt x="15813680" y="2571004"/>
                </a:lnTo>
                <a:lnTo>
                  <a:pt x="0" y="25710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12430" r="-52394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79426" y="1082270"/>
            <a:ext cx="14129148" cy="1625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1"/>
              </a:lnSpc>
            </a:pPr>
            <a:r>
              <a:rPr lang="en-US" sz="6261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Acoperire la nivel de decizie și la nivel de condiție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2662" y="3089391"/>
            <a:ext cx="15722675" cy="121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3199" i="true">
                <a:solidFill>
                  <a:srgbClr val="000000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Decision Coverage:</a:t>
            </a:r>
            <a:r>
              <a:rPr lang="en-US" sz="3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Am testat ambele variante pentru ramurile deciziona</a:t>
            </a:r>
            <a:r>
              <a:rPr lang="en-US" sz="3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le </a:t>
            </a:r>
            <a:r>
              <a:rPr lang="en-US" sz="3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</a:t>
            </a:r>
            <a:r>
              <a:rPr lang="en-US" sz="3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denti</a:t>
            </a:r>
            <a:r>
              <a:rPr lang="en-US" sz="3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</a:t>
            </a:r>
            <a:r>
              <a:rPr lang="en-US" sz="3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</a:t>
            </a:r>
            <a:r>
              <a:rPr lang="en-US" sz="3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</a:t>
            </a:r>
            <a:r>
              <a:rPr lang="en-US" sz="3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ate. Toate cele 6 ramuri identificate sunt acoperite, rezultând o acoperire de 100% la nivel de decizie.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50444" y="7876898"/>
            <a:ext cx="14387112" cy="1664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3299" i="true">
                <a:solidFill>
                  <a:srgbClr val="000000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Condition Coverage: </a:t>
            </a:r>
            <a:r>
              <a:rPr lang="en-US" sz="32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Toate condițiile atomice iau ambele valori de adevăr prin testele de tip EC imp</a:t>
            </a:r>
            <a:r>
              <a:rPr lang="en-US" sz="32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lementate anterior. Nu au fost necesare teste suplimentare pentru a atinge acoperirea la nivel de condiție.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DAHHTo-xd_E</dc:identifier>
  <dcterms:modified xsi:type="dcterms:W3CDTF">2011-08-01T06:04:30Z</dcterms:modified>
  <cp:revision>1</cp:revision>
  <dc:title>Testarea Unitară in Python 1/3</dc:title>
</cp:coreProperties>
</file>